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90" r:id="rId2"/>
    <p:sldId id="408" r:id="rId3"/>
    <p:sldId id="409" r:id="rId4"/>
    <p:sldId id="410" r:id="rId5"/>
    <p:sldId id="411" r:id="rId6"/>
    <p:sldId id="391" r:id="rId7"/>
    <p:sldId id="392" r:id="rId8"/>
    <p:sldId id="393" r:id="rId9"/>
    <p:sldId id="394" r:id="rId10"/>
    <p:sldId id="395" r:id="rId11"/>
    <p:sldId id="396" r:id="rId12"/>
    <p:sldId id="397" r:id="rId13"/>
    <p:sldId id="398" r:id="rId14"/>
    <p:sldId id="399" r:id="rId15"/>
    <p:sldId id="400" r:id="rId16"/>
    <p:sldId id="401" r:id="rId17"/>
    <p:sldId id="402" r:id="rId18"/>
    <p:sldId id="403" r:id="rId19"/>
    <p:sldId id="404" r:id="rId20"/>
    <p:sldId id="405" r:id="rId21"/>
    <p:sldId id="406" r:id="rId22"/>
    <p:sldId id="407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9" autoAdjust="0"/>
    <p:restoredTop sz="94709" autoAdjust="0"/>
  </p:normalViewPr>
  <p:slideViewPr>
    <p:cSldViewPr>
      <p:cViewPr varScale="1">
        <p:scale>
          <a:sx n="79" d="100"/>
          <a:sy n="79" d="100"/>
        </p:scale>
        <p:origin x="1134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3F5C096-7E7D-40B4-BD9B-5492741035B3}" type="datetimeFigureOut">
              <a:rPr lang="en-US"/>
              <a:pPr>
                <a:defRPr/>
              </a:pPr>
              <a:t>6/6/2026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D6D0353-E236-42D0-96F7-E0E5E9825A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2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aul Plain White Backgroun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BB5D9-526B-41FA-8383-302229AC6896}" type="datetimeFigureOut">
              <a:rPr lang="en-US"/>
              <a:pPr>
                <a:defRPr/>
              </a:pPr>
              <a:t>6/6/2026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D6340-CF2D-419F-B4C1-79EBFA676E3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06C2DA-169B-4D6A-B239-57270A465B80}" type="datetimeFigureOut">
              <a:rPr lang="en-US"/>
              <a:pPr>
                <a:defRPr/>
              </a:pPr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EC148-1FDD-4272-9E42-0951E89AC2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277F1-0A00-4C63-B1F4-1E1C15E7B380}" type="datetimeFigureOut">
              <a:rPr lang="en-US"/>
              <a:pPr>
                <a:defRPr/>
              </a:pPr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551726-EE35-49B3-9569-8CDCAE2842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AB83A3-3AF1-4262-ADE6-BFE4D79B056D}" type="datetimeFigureOut">
              <a:rPr lang="en-US"/>
              <a:pPr>
                <a:defRPr/>
              </a:pPr>
              <a:t>6/6/2026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B82616-F074-491B-B323-67952413DB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2ABB5B-AE19-4FF1-B358-1350F071D578}" type="datetimeFigureOut">
              <a:rPr lang="en-US"/>
              <a:pPr>
                <a:defRPr/>
              </a:pPr>
              <a:t>6/6/2026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E4F07-0B5D-4059-8BC2-0B68EEFCC5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431661-DF7B-422C-8917-B535B8C28A8F}" type="datetimeFigureOut">
              <a:rPr lang="en-US"/>
              <a:pPr>
                <a:defRPr/>
              </a:pPr>
              <a:t>6/6/2026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40EB5E-A667-4E0D-BA97-0BE88304727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35F285-220F-4E0C-881A-2A5BFAF93696}" type="datetimeFigureOut">
              <a:rPr lang="en-US"/>
              <a:pPr>
                <a:defRPr/>
              </a:pPr>
              <a:t>6/6/2026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1638C-58AC-466B-A923-FC543A3AC2E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72606-1DA3-478B-8A9B-753ECCA79A4E}" type="datetimeFigureOut">
              <a:rPr lang="en-US"/>
              <a:pPr>
                <a:defRPr/>
              </a:pPr>
              <a:t>6/6/2026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2FC75F-A9D5-46BA-8750-F48276F1F5C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25DDB-C047-4C0C-841F-E23835D2B2A6}" type="datetimeFigureOut">
              <a:rPr lang="en-US"/>
              <a:pPr>
                <a:defRPr/>
              </a:pPr>
              <a:t>6/6/2026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3445A-2FF0-45A3-822A-DBEE128D06E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3C72CA-537B-41FE-B467-C99DBE9B964A}" type="datetimeFigureOut">
              <a:rPr lang="en-US"/>
              <a:pPr>
                <a:defRPr/>
              </a:pPr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AD81B-B632-4626-AFC2-DDE2BD1E08A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5F4605-E582-4E06-82A8-F0A3DC94E2C9}" type="datetimeFigureOut">
              <a:rPr lang="en-US"/>
              <a:pPr>
                <a:defRPr/>
              </a:pPr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C85C0-7590-48F2-A625-DA6C7926BC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7B30222-7D22-46E0-9C12-1D2E1D49AF06}" type="datetimeFigureOut">
              <a:rPr lang="en-US"/>
              <a:pPr>
                <a:defRPr/>
              </a:pPr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747F3FE-54F9-44C0-B1CC-E92B89CACC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1" name="Picture 4" descr="Paul Plain White Background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8991600" cy="762000"/>
          </a:xfrm>
        </p:spPr>
        <p:txBody>
          <a:bodyPr/>
          <a:lstStyle/>
          <a:p>
            <a:r>
              <a:rPr lang="en-US" dirty="0"/>
              <a:t>Theories of entrepreneurship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382000" cy="5486400"/>
          </a:xfrm>
        </p:spPr>
        <p:txBody>
          <a:bodyPr/>
          <a:lstStyle/>
          <a:p>
            <a:r>
              <a:rPr lang="en-US" b="1" dirty="0"/>
              <a:t>Some questions to be discussed: </a:t>
            </a:r>
          </a:p>
          <a:p>
            <a:pPr lvl="1"/>
            <a:r>
              <a:rPr lang="en-US" dirty="0"/>
              <a:t>What are the characteristics of entrepreneurial individuals?</a:t>
            </a:r>
          </a:p>
          <a:p>
            <a:pPr lvl="1"/>
            <a:r>
              <a:rPr lang="en-US" dirty="0"/>
              <a:t>Are entrepreneurs born or not?</a:t>
            </a:r>
          </a:p>
          <a:p>
            <a:pPr lvl="1"/>
            <a:r>
              <a:rPr lang="en-US" dirty="0"/>
              <a:t>Do entrepreneurs become entrepreneurs because of the exposure to a situation or maybe life experiences?</a:t>
            </a:r>
          </a:p>
          <a:p>
            <a:pPr lvl="1"/>
            <a:r>
              <a:rPr lang="en-US" dirty="0"/>
              <a:t>What do you think?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655638"/>
          </a:xfrm>
        </p:spPr>
        <p:txBody>
          <a:bodyPr/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Theorist of entrepreneurship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Entrepreneurship is the practice which has a knowledge base .</a:t>
            </a:r>
          </a:p>
          <a:p>
            <a:pPr marL="0" indent="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It is not confined to big businesses and economic institutions.</a:t>
            </a:r>
          </a:p>
          <a:p>
            <a:pPr marL="0" indent="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foundation of entrepreneurship lies in concept and theory rather than intuition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8195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503238"/>
          </a:xfrm>
        </p:spPr>
        <p:txBody>
          <a:bodyPr/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Propound theories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Economics theory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Entrepreneurship and economic growth exist only in a favorable economic conditions .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Good policies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 taxation policy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 industrial policy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Policy on information and communications technology</a:t>
            </a:r>
          </a:p>
        </p:txBody>
      </p:sp>
    </p:spTree>
    <p:extLst>
      <p:ext uri="{BB962C8B-B14F-4D97-AF65-F5344CB8AC3E}">
        <p14:creationId xmlns:p14="http://schemas.microsoft.com/office/powerpoint/2010/main" val="3151059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350838"/>
          </a:xfrm>
        </p:spPr>
        <p:txBody>
          <a:bodyPr/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Sociological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Not only limited to economic world but consider the aspect of society.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1.Social culture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2.Religious beliefs 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3.Customs  and taboos</a:t>
            </a:r>
          </a:p>
        </p:txBody>
      </p:sp>
    </p:spTree>
    <p:extLst>
      <p:ext uri="{BB962C8B-B14F-4D97-AF65-F5344CB8AC3E}">
        <p14:creationId xmlns:p14="http://schemas.microsoft.com/office/powerpoint/2010/main" val="1622074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229600" cy="427038"/>
          </a:xfrm>
        </p:spPr>
        <p:txBody>
          <a:bodyPr/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Psychological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theory view entrepreneurship from three perspectives: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Entrepreneurs are born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2. Entrepreneurs are made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3. Born -made</a:t>
            </a:r>
          </a:p>
        </p:txBody>
      </p:sp>
    </p:spTree>
    <p:extLst>
      <p:ext uri="{BB962C8B-B14F-4D97-AF65-F5344CB8AC3E}">
        <p14:creationId xmlns:p14="http://schemas.microsoft.com/office/powerpoint/2010/main" val="1218399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Born or made?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5486400"/>
          </a:xfrm>
        </p:spPr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Entrepreneurs can be divided in six groups</a:t>
            </a:r>
          </a:p>
          <a:p>
            <a:pPr lvl="1"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“Novice” entrepreneur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(without entrepreneurial experience)</a:t>
            </a:r>
          </a:p>
          <a:p>
            <a:pPr lvl="1"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“Habitual” entrepreneur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(a person with previous entrepreneurial experience)</a:t>
            </a:r>
          </a:p>
          <a:p>
            <a:pPr lvl="1"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“Nascent” entrepreneur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(a person who is in the process of creating a new organization – he or she can be  “novice” and “habitual”</a:t>
            </a:r>
          </a:p>
          <a:p>
            <a:pPr lvl="1"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“Serial” entrepreneur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(a person who constantly establishes and sells organizations)</a:t>
            </a:r>
          </a:p>
          <a:p>
            <a:pPr lvl="1"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“Portfolio” entrepreneur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 a person who owns several organizations at the same time)</a:t>
            </a:r>
          </a:p>
          <a:p>
            <a:pPr lvl="1"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“Intrepreneur “(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person who acts entrepreneurially in the context of an existing organization).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/>
          <a:lstStyle/>
          <a:p>
            <a:pPr algn="l"/>
            <a:r>
              <a:rPr lang="en-US" sz="3600" b="1" dirty="0"/>
              <a:t>The entrepreneur is a character in disguise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610600" cy="4648200"/>
          </a:xfrm>
        </p:spPr>
        <p:txBody>
          <a:bodyPr/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Herbert&amp;Link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1988:11) refer to entrepreneur as faceless instructions or impersonal market structures</a:t>
            </a:r>
          </a:p>
          <a:p>
            <a:pPr algn="just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Shumpeter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(1934) places emphasizes on the function of entrepreneur for the economy and pinpoints that entrepreneurs are people who have:</a:t>
            </a:r>
          </a:p>
          <a:p>
            <a:pPr marL="971550" lvl="1" indent="-514350" algn="just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wish to establish private kingdom</a:t>
            </a:r>
          </a:p>
          <a:p>
            <a:pPr marL="971550" lvl="1" indent="-514350" algn="just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will to conquer</a:t>
            </a:r>
          </a:p>
          <a:p>
            <a:pPr marL="971550" lvl="1" indent="-514350" algn="just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delight in creating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8610600" cy="609600"/>
          </a:xfrm>
        </p:spPr>
        <p:txBody>
          <a:bodyPr/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Entrepreneurs are born?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486400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Entrepreneurship research field has been inspired by psychology from 60’s-80’s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Character features, set of qualities,  attributed  to personality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Risk taking as forefront  of opportunity creation, evaluation and opportunity pursuit</a:t>
            </a:r>
          </a:p>
          <a:p>
            <a:pPr marL="457200" lvl="1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Ability to find creative solutions</a:t>
            </a:r>
          </a:p>
          <a:p>
            <a:pPr marL="457200" lvl="1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Need for achievements, personal ambitions and much more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sz="2800" dirty="0"/>
              <a:t>Llewellyn &amp; Wilson (2003:342) “Constructs to explain regularities in people’s behavior, and help to explain why different people react differently to the same situation”</a:t>
            </a:r>
          </a:p>
          <a:p>
            <a:r>
              <a:rPr lang="en-US" sz="2800" dirty="0"/>
              <a:t>Gartner (1988) pointed out that the features of entrepreneurial person are:</a:t>
            </a:r>
          </a:p>
          <a:p>
            <a:pPr lvl="2"/>
            <a:r>
              <a:rPr lang="en-US" sz="1800" dirty="0"/>
              <a:t>Inclined to run the risk</a:t>
            </a:r>
          </a:p>
          <a:p>
            <a:pPr lvl="2"/>
            <a:r>
              <a:rPr lang="en-US" sz="1800" dirty="0"/>
              <a:t>Need to achieve</a:t>
            </a:r>
          </a:p>
          <a:p>
            <a:pPr lvl="2"/>
            <a:r>
              <a:rPr lang="en-US" sz="1800" dirty="0"/>
              <a:t>Independent</a:t>
            </a:r>
          </a:p>
          <a:p>
            <a:pPr lvl="2"/>
            <a:r>
              <a:rPr lang="en-US" sz="1800" dirty="0"/>
              <a:t>Aggressive</a:t>
            </a:r>
          </a:p>
          <a:p>
            <a:pPr lvl="2"/>
            <a:r>
              <a:rPr lang="en-US" sz="1800" dirty="0"/>
              <a:t>Leader</a:t>
            </a:r>
          </a:p>
          <a:p>
            <a:pPr lvl="2"/>
            <a:r>
              <a:rPr lang="en-US" sz="1800" dirty="0"/>
              <a:t> A belief in his own abilities</a:t>
            </a:r>
          </a:p>
          <a:p>
            <a:pPr lvl="2"/>
            <a:r>
              <a:rPr lang="en-US" sz="1800" dirty="0"/>
              <a:t>Oriented towards actions and results</a:t>
            </a:r>
          </a:p>
          <a:p>
            <a:pPr lvl="2"/>
            <a:r>
              <a:rPr lang="en-US" sz="1800" dirty="0"/>
              <a:t>Innovative</a:t>
            </a:r>
          </a:p>
          <a:p>
            <a:pPr lvl="2"/>
            <a:r>
              <a:rPr lang="en-US" sz="1800" dirty="0"/>
              <a:t>Intelligent</a:t>
            </a:r>
          </a:p>
          <a:p>
            <a:pPr lvl="2"/>
            <a:r>
              <a:rPr lang="en-US" sz="1800" dirty="0"/>
              <a:t>Creative</a:t>
            </a:r>
          </a:p>
          <a:p>
            <a:pPr lvl="2"/>
            <a:r>
              <a:rPr lang="en-US" sz="1800" dirty="0"/>
              <a:t>Tolerant  towards uncertainty</a:t>
            </a:r>
          </a:p>
          <a:p>
            <a:pPr lvl="2"/>
            <a:r>
              <a:rPr lang="en-US" sz="1800" dirty="0"/>
              <a:t>Wish to earn the money</a:t>
            </a:r>
          </a:p>
          <a:p>
            <a:pPr lvl="2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15000" y="2209800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667000" y="2286000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126163"/>
          </a:xfrm>
        </p:spPr>
        <p:txBody>
          <a:bodyPr/>
          <a:lstStyle/>
          <a:p>
            <a:r>
              <a:rPr lang="en-US" sz="2800" dirty="0"/>
              <a:t>The tradition assumes that the personality features concerned are stable over time and that entrepreneur has acquired these more or less from birth.</a:t>
            </a:r>
          </a:p>
          <a:p>
            <a:r>
              <a:rPr lang="en-US" sz="2800" dirty="0"/>
              <a:t>A fairytale “Ugly Duckling”:</a:t>
            </a:r>
          </a:p>
          <a:p>
            <a:pPr lvl="1"/>
            <a:r>
              <a:rPr lang="en-US" dirty="0"/>
              <a:t>“being born in a duck yard does not matter, if only you are hatched from a swan’s egg”…..Once an entrepreneur, always an entrepreneur, implying that a state of personality does not go away (Gartner 1988:12)</a:t>
            </a:r>
          </a:p>
          <a:p>
            <a:pPr lvl="1"/>
            <a:r>
              <a:rPr lang="en-US" dirty="0"/>
              <a:t>Growing demography in focus (first years of growing up and demographic factors</a:t>
            </a:r>
          </a:p>
          <a:p>
            <a:r>
              <a:rPr lang="en-US" sz="2800" dirty="0"/>
              <a:t>Emergence of Idea of behavior determined by personality, upbringing and demography.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458200" cy="533400"/>
          </a:xfrm>
        </p:spPr>
        <p:txBody>
          <a:bodyPr/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Entrepreneurs are made?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5486400"/>
          </a:xfrm>
        </p:spPr>
        <p:txBody>
          <a:bodyPr/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Whether an individual becomes an entrepreneur or not therefore depends on the situations and experiences that he or she is exposed to.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process of starting a business is not a single well-known route marched along again and again by identical entrepreneurs. New venture creation is a complex phenomenon: “Entrepreneurs and their firms vary widely” (Gartner 1985:697)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609600"/>
          </a:xfrm>
        </p:spPr>
        <p:txBody>
          <a:bodyPr/>
          <a:lstStyle/>
          <a:p>
            <a:r>
              <a:rPr lang="en-US" sz="4000" dirty="0"/>
              <a:t>Gartner’s model determined by situation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48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33400" y="2971800"/>
            <a:ext cx="266700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6600" y="4114800"/>
            <a:ext cx="266700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76400"/>
            <a:ext cx="266700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Individual (s)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048000"/>
            <a:ext cx="266700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Organization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rot="5400000">
            <a:off x="2286000" y="1981200"/>
            <a:ext cx="762000" cy="762000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5400000">
            <a:off x="6172200" y="3733800"/>
            <a:ext cx="762000" cy="762000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10800000">
            <a:off x="2209800" y="3733800"/>
            <a:ext cx="914400" cy="609600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10800000">
            <a:off x="6019800" y="2057400"/>
            <a:ext cx="914400" cy="609600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10800000">
            <a:off x="3352800" y="3276600"/>
            <a:ext cx="2514600" cy="1588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5400000" flipH="1" flipV="1">
            <a:off x="3694906" y="3162300"/>
            <a:ext cx="1752600" cy="1588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9600" y="4953000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 entrepreneurial process seen as result of interaction  </a:t>
            </a:r>
          </a:p>
          <a:p>
            <a:pPr algn="ctr"/>
            <a:r>
              <a:rPr lang="en-US" b="1" dirty="0"/>
              <a:t>between four components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382000" cy="5486400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Contingency theory by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Timmon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Spinelli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Contingency theories imply that entrepreneurship is not something that you are </a:t>
            </a:r>
            <a:r>
              <a:rPr lang="en-US" i="1" dirty="0"/>
              <a:t>born to do.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981200"/>
            <a:ext cx="2133600" cy="1219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Opportunity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200400"/>
            <a:ext cx="4191000" cy="1219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Entrepreneurial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4419600" y="1981200"/>
            <a:ext cx="2057400" cy="1219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Resources</a:t>
            </a:r>
          </a:p>
        </p:txBody>
      </p:sp>
      <p:sp>
        <p:nvSpPr>
          <p:cNvPr id="9" name="Left-Right-Up Arrow 8"/>
          <p:cNvSpPr/>
          <p:nvPr/>
        </p:nvSpPr>
        <p:spPr>
          <a:xfrm rot="10800000">
            <a:off x="3792792" y="2819400"/>
            <a:ext cx="1283494" cy="914398"/>
          </a:xfrm>
          <a:prstGeom prst="leftRightUp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685800"/>
          </a:xfrm>
        </p:spPr>
        <p:txBody>
          <a:bodyPr/>
          <a:lstStyle/>
          <a:p>
            <a:pPr algn="l"/>
            <a:r>
              <a:rPr lang="en-US" dirty="0"/>
              <a:t>Contingency theories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85800"/>
            <a:ext cx="8305800" cy="5440363"/>
          </a:xfrm>
        </p:spPr>
        <p:txBody>
          <a:bodyPr/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Imply that entrepreneurship is not something that people are born to do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theories provide an overview of mechanisms constituting entrepreneurship playing grounds. 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They do not deal with the entrepreneur as a person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Focus placed on overall structures or system components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685800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Exploration of the individual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610600" cy="5440363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Three cognitive characteristics that make entrepreneurs exploit opportunities (By Shane 2003)</a:t>
            </a:r>
          </a:p>
          <a:p>
            <a:pPr marL="971550" lvl="1" indent="-514350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Entrepreneurs are more optimistic that others in their way of coming to terms with impulses</a:t>
            </a:r>
          </a:p>
          <a:p>
            <a:pPr marL="971550" lvl="1" indent="-514350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Entrepreneurs have tendency to take big decisions in spite of  the fact that only little information is available</a:t>
            </a:r>
          </a:p>
          <a:p>
            <a:pPr marL="971550" lvl="1" indent="-514350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Entrepreneurs use their intuition more than others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gutt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feeling)</a:t>
            </a:r>
          </a:p>
          <a:p>
            <a:pPr marL="971550" lvl="1" indent="-51435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Shane (2003) suggests that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“people who have higher self efficacy are more likely to exploit entrepreneurial opportunities that people who </a:t>
            </a:r>
            <a:r>
              <a:rPr lang="en-US" b="1" i="1" dirty="0"/>
              <a:t>have lower self efficacy”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8686800" cy="609600"/>
          </a:xfrm>
        </p:spPr>
        <p:txBody>
          <a:bodyPr/>
          <a:lstStyle/>
          <a:p>
            <a:pPr algn="l"/>
            <a:r>
              <a:rPr lang="en-US" dirty="0"/>
              <a:t>Internal versus external stimulation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5029200"/>
          </a:xfrm>
        </p:spPr>
        <p:txBody>
          <a:bodyPr/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Two ways intention of Entrepreneurial identity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971550" lvl="1" indent="-514350" algn="just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 intention of becoming an entrepreneur </a:t>
            </a:r>
          </a:p>
          <a:p>
            <a:pPr marL="457200" lvl="1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2.Becoming an entrepreneur as a result of external factors</a:t>
            </a:r>
          </a:p>
          <a:p>
            <a:pPr marL="971550" lvl="1" indent="-51435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For that reason we need to distinguish between internally and externally stimulated entrepreneurship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586"/>
            <a:ext cx="9144000" cy="609600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Internally stimulated entrepreneurship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066800"/>
            <a:ext cx="2514600" cy="1143000"/>
          </a:xfrm>
          <a:ln w="38100">
            <a:solidFill>
              <a:schemeClr val="tx1"/>
            </a:solidFill>
          </a:ln>
        </p:spPr>
        <p:txBody>
          <a:bodyPr/>
          <a:lstStyle/>
          <a:p>
            <a:pPr>
              <a:buNone/>
            </a:pPr>
            <a:r>
              <a:rPr lang="en-US" sz="2400" b="1" dirty="0"/>
              <a:t>     Intention of becoming an entrepreneur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581400" y="1371600"/>
            <a:ext cx="990600" cy="685800"/>
          </a:xfrm>
          <a:prstGeom prst="rightArrow">
            <a:avLst/>
          </a:prstGeom>
          <a:solidFill>
            <a:srgbClr val="FF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800600" y="1066800"/>
            <a:ext cx="3200400" cy="1143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Discovery or creation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an opportunity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2590800"/>
            <a:ext cx="9144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stronger the intention to engage in a behavior, the more likely should  be its performance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Ajzen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1991:81)</a:t>
            </a:r>
          </a:p>
          <a:p>
            <a:pPr algn="just">
              <a:buFont typeface="Arial" pitchFamily="34" charset="0"/>
              <a:buChar char="•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Entrepreneurial actions are a result of an internal rational intention that attributes to the individual to carry out an entrepreneurial action</a:t>
            </a:r>
          </a:p>
          <a:p>
            <a:pPr>
              <a:buFont typeface="Arial" pitchFamily="34" charset="0"/>
              <a:buChar char="•"/>
            </a:pPr>
            <a:endParaRPr lang="en-US" sz="2800" b="1" dirty="0"/>
          </a:p>
          <a:p>
            <a:pPr marL="914400" lvl="1" indent="-457200">
              <a:buAutoNum type="arabicPeriod"/>
            </a:pPr>
            <a:endParaRPr lang="en-US" sz="28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686800" cy="6126163"/>
          </a:xfrm>
        </p:spPr>
        <p:txBody>
          <a:bodyPr/>
          <a:lstStyle/>
          <a:p>
            <a:pPr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 intention is result of crystallization of three variables</a:t>
            </a:r>
          </a:p>
          <a:p>
            <a:pPr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914400" lvl="1" indent="-457200" algn="just">
              <a:buAutoNum type="arabicPeriod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View of feasibility: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How difficult the individual considers the entrepreneurial project- the extent of behavioral control</a:t>
            </a:r>
          </a:p>
          <a:p>
            <a:pPr marL="914400" lvl="1" indent="-457200" algn="just"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914400" lvl="1" indent="-457200" algn="just">
              <a:buAutoNum type="arabicPeriod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View of standards: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what extent the individual feels a social pressure in terms of carrying out the entrepreneurial action or not doing it</a:t>
            </a:r>
          </a:p>
          <a:p>
            <a:pPr marL="914400" lvl="1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View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of desirability: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what extent the individual will choose the entrepreneurial action in favor of another action- view of prosperity associated with the action (Ajzen 1991:183)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686800" cy="6126163"/>
          </a:xfrm>
        </p:spPr>
        <p:txBody>
          <a:bodyPr/>
          <a:lstStyle/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The rule of thumb: The more respect is gained from surrounding world, and the more the individual experiences the action favorable, the stronger the individual's intention of becoming an entrepreneur</a:t>
            </a:r>
            <a:r>
              <a:rPr lang="en-US" sz="2800" b="1" dirty="0"/>
              <a:t>.</a:t>
            </a:r>
          </a:p>
          <a:p>
            <a:pPr marL="0" indent="0" algn="just">
              <a:buNone/>
            </a:pPr>
            <a:endParaRPr lang="en-US" sz="2800" b="1" dirty="0"/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 individual with strong internal orientation of becoming an entrepreneur therefore feels a strong need to discover or create an opportunity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“People can and will discover entrepreneurial opportunities without actively searching for them” (Shane  2000:451)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Often, new opportunities are discovered or created as a result of our everyday actions with people in different contexts- that is through activities that are externally oriented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txBody>
          <a:bodyPr/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Externally stimulated entrepreneurship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57150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Externally stimulated entrepreneurship is rather a question of a more unconscious start-up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Who will become an entrepreneur is hard to predict it, because it depends on: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the circumstances, who we meet, opportunities, coincidences, our needs and self-perception and much more than that.</a:t>
            </a:r>
          </a:p>
          <a:p>
            <a:pPr lvl="1"/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85800" y="1066800"/>
            <a:ext cx="2514600" cy="1143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Discovery or creation of an opportunity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581400" y="1371600"/>
            <a:ext cx="990600" cy="685800"/>
          </a:xfrm>
          <a:prstGeom prst="rightArrow">
            <a:avLst/>
          </a:prstGeom>
          <a:solidFill>
            <a:srgbClr val="FF00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800600" y="1066800"/>
            <a:ext cx="3200400" cy="1143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Intention of becoming an entrepreneur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792162"/>
          </a:xfrm>
        </p:spPr>
        <p:txBody>
          <a:bodyPr/>
          <a:lstStyle/>
          <a:p>
            <a:pPr algn="l"/>
            <a:r>
              <a:rPr lang="en-US" dirty="0"/>
              <a:t>The paradox: Born or Made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52400" y="914400"/>
          <a:ext cx="8839200" cy="4523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43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431">
                <a:tc>
                  <a:txBody>
                    <a:bodyPr/>
                    <a:lstStyle/>
                    <a:p>
                      <a:r>
                        <a:rPr lang="en-US" b="1" dirty="0"/>
                        <a:t>Who is the entrepreneur?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Special super individuals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are potential entrepreneurs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862">
                <a:tc>
                  <a:txBody>
                    <a:bodyPr/>
                    <a:lstStyle/>
                    <a:p>
                      <a:r>
                        <a:rPr lang="en-US" b="1" dirty="0"/>
                        <a:t>Perception of the entrepreneur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Stable over time</a:t>
                      </a:r>
                    </a:p>
                    <a:p>
                      <a:r>
                        <a:rPr lang="en-US" dirty="0"/>
                        <a:t>-Once entrepreneur</a:t>
                      </a:r>
                      <a:r>
                        <a:rPr lang="en-US" baseline="0" dirty="0"/>
                        <a:t> -always entrepreneur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entrepreneur is created through 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693">
                <a:tc>
                  <a:txBody>
                    <a:bodyPr/>
                    <a:lstStyle/>
                    <a:p>
                      <a:r>
                        <a:rPr lang="en-US" b="1" dirty="0"/>
                        <a:t>Stimulation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Internal character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Internal and external factors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7121">
                <a:tc>
                  <a:txBody>
                    <a:bodyPr/>
                    <a:lstStyle/>
                    <a:p>
                      <a:r>
                        <a:rPr lang="en-US" b="1" dirty="0"/>
                        <a:t>Research emphasis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Character features attached to the entrepreneurial personality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interacting individual and contextual factors that create individuals, cognitive process and 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0862">
                <a:tc>
                  <a:txBody>
                    <a:bodyPr/>
                    <a:lstStyle/>
                    <a:p>
                      <a:r>
                        <a:rPr lang="en-US" b="1" dirty="0"/>
                        <a:t>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be able to predict and point out the entrepreneur in the  crowd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understand the entrepreneur and how entrepreneur is created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81200"/>
          </a:xfrm>
        </p:spPr>
        <p:txBody>
          <a:bodyPr/>
          <a:lstStyle/>
          <a:p>
            <a:r>
              <a:rPr lang="en-US" dirty="0"/>
              <a:t>Comment the paradox between born and made entrepreneur by utilizing the Thomas’s and Mete’s 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2998</TotalTime>
  <Words>1259</Words>
  <Application>Microsoft Office PowerPoint</Application>
  <PresentationFormat>On-screen Show (4:3)</PresentationFormat>
  <Paragraphs>177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Theories of entrepreneurship</vt:lpstr>
      <vt:lpstr>Theorist of entrepreneurship </vt:lpstr>
      <vt:lpstr>Propound theories</vt:lpstr>
      <vt:lpstr>Sociological theory</vt:lpstr>
      <vt:lpstr>Psychological theory</vt:lpstr>
      <vt:lpstr>Born or made?</vt:lpstr>
      <vt:lpstr>The entrepreneur is a character in disguise</vt:lpstr>
      <vt:lpstr>Entrepreneurs are born?</vt:lpstr>
      <vt:lpstr>PowerPoint Presentation</vt:lpstr>
      <vt:lpstr>PowerPoint Presentation</vt:lpstr>
      <vt:lpstr>Entrepreneurs are made?</vt:lpstr>
      <vt:lpstr>Gartner’s model determined by situation</vt:lpstr>
      <vt:lpstr>PowerPoint Presentation</vt:lpstr>
      <vt:lpstr>Contingency theories</vt:lpstr>
      <vt:lpstr>Exploration of the individual</vt:lpstr>
      <vt:lpstr>Internal versus external stimulation</vt:lpstr>
      <vt:lpstr>Internally stimulated entrepreneurship</vt:lpstr>
      <vt:lpstr>PowerPoint Presentation</vt:lpstr>
      <vt:lpstr>PowerPoint Presentation</vt:lpstr>
      <vt:lpstr>Externally stimulated entrepreneurship</vt:lpstr>
      <vt:lpstr>The paradox: Born or Made</vt:lpstr>
      <vt:lpstr>Assignment!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PC</dc:creator>
  <cp:lastModifiedBy>Iddrisu</cp:lastModifiedBy>
  <cp:revision>125</cp:revision>
  <dcterms:created xsi:type="dcterms:W3CDTF">2010-08-30T06:21:14Z</dcterms:created>
  <dcterms:modified xsi:type="dcterms:W3CDTF">2026-06-06T21:18:23Z</dcterms:modified>
</cp:coreProperties>
</file>